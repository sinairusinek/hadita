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2: Workflows &amp; Systems, 10:50–12:10 (~20 min + Q&amp;A).</a:t>
            </a:r>
          </a:p>
          <a:p/>
          <a:p>
            <a:r>
              <a:t>Framing note: the through-line is that no stage of this work belongs to one kind of reader — the title's three actors each fail at something the others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property-tax register is one of the few surviving documents of who held which parcel. Entries reference Tax Distribution Lists, 1938–1945.</a:t>
            </a:r>
          </a:p>
          <a:p/>
          <a:p>
            <a:r>
              <a:t>This is the 'why it matters' slide — the register is evidence for a village that no longer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 TO STATE ALOUD: no head-to-head accuracy was ever computed. The comparison is scope and architecture, not CER.</a:t>
            </a:r>
          </a:p>
          <a:p/>
          <a:p>
            <a:r>
              <a:t>This slide sets up the contrast. The audience should be thinking 'so apply phase 2 to the other register' — and the next slide shows why that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image in the talk. Let it sit.</a:t>
            </a:r>
          </a:p>
          <a:p/>
          <a:p>
            <a:r>
              <a:t>Left: nb01_p003. Right: Hadita page 9.</a:t>
            </a:r>
          </a:p>
          <a:p/>
          <a:p>
            <a:r>
              <a:t>Point at the bottom third of the right-hand page: that is where every later problem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problems on this slide; content and semantics on the next.</a:t>
            </a:r>
          </a:p>
          <a:p/>
          <a:p>
            <a:r>
              <a:t>The narrow money columns on the right are the next worst after the left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ditto/nil point matters twice over: once here, and again at the ink gate, where 'meaning with no ink' is exactly the class the gate costs us.</a:t>
            </a:r>
          </a:p>
          <a:p/>
          <a:p>
            <a:r>
              <a:t>On page 9 the serials stop after row 5 while dated entries continue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 FOLD INTO SLIDE 8 (your note in SLIDES.md).</a:t>
            </a:r>
          </a:p>
          <a:p/>
          <a:p>
            <a:r>
              <a:t>The argument: no stage belongs to one kind of reader. The colouring is the point — this is the talk's through-line in one picture.</a:t>
            </a:r>
          </a:p>
          <a:p/>
          <a:p>
            <a:r>
              <a:t>Two players not yet named at this stage: the community, and the chat that relayed what the community knew and experimented alongside me toward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divider. Delete if the talk runs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Recovered 35 rows. Structural validation 37/98 → 95/98.</a:t>
            </a:r>
          </a:p>
          <a:p/>
          <a:p>
            <a:r>
              <a:t>Upload the undamaged page; push the cell polygons through the inverse remap. PAGE XML polygons can bow — the format could always express this.</a:t>
            </a:r>
          </a:p>
          <a:p/>
          <a:p>
            <a:r>
              <a:t>THE LESSON: the lossy step was CONVENIENCE. Flattening the image made every later stage simpler, and paid for it by destroying data invisibly. Nothing errored. The corpus just quietly lost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justifies the template approach. The audience has to feel that near-miss geometry is not 'nearly right' — it is wrong in a way that silently corrupts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Deriving the left edge is what removes the binding shadow from the problem entirely.</a:t>
            </a:r>
          </a:p>
          <a:p/>
          <a:p>
            <a:r>
              <a:t>RESIDUAL CLASS: pages where the scribe wrote across the printed columns. No line detector can fix that — it needs content-level flagging and RA judgment.</a:t>
            </a:r>
          </a:p>
          <a:p/>
          <a:p>
            <a:r>
              <a:t>The full-page version of this figure is fig09_column_template.jpg if you want to show the template carried down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irony worth saying aloud: this is the SAME recipe that works on the verticals. The method is not wrong in general — it is wrong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methodological heart of the geometry half of the talk. Worth dwelling on: the failure was not sensitivity, it was the wrong estimator.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Reading the ruling as a set of boundaries put every boundary half a row out of place: geometrically flawless, and useless for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 MEASUREMENT WAS THE REAL FAILURE. The bad grid was scored by asking what fraction of the writing fell inside its rows — writing measured against lines derived from that same writing. It read 0.97 while sitting half a row off.</a:t>
            </a:r>
          </a:p>
          <a:p/>
          <a:p>
            <a:r>
              <a:t>NEVER SCORE GEOMETRY WITH A METRIC DRAWN FROM THE SOURCE IT CAME FROM.</a:t>
            </a:r>
          </a:p>
          <a:p/>
          <a:p>
            <a:r>
              <a:t>This is probably the most transferable lesson in the talk. Consider giving it its own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the cutoff is 6px, not the 12 in the older draft — gate_textlines.py lowered it because user-labelled cells sat at 9px.</a:t>
            </a:r>
          </a:p>
          <a:p/>
          <a:p>
            <a:r>
              <a:t>COST: 16.5% of remaining disagreements are now cells the model left empty that the reference fills — the near-invisible ones. A pink-pencil second chance on the green channel recovers most of that class (the pigment absorbs green, so strokes darken G relative to nearby paper).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divider. Delete if the talk runs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CAVEATS: hadid02 overfits because there are only 6 pages of GT; Baseer is a single run on isolated cell crops.</a:t>
            </a:r>
          </a:p>
          <a:p/>
          <a:p>
            <a:r>
              <a:t>The agreement result is the constructive finding: a same-model rerun agrees twice as often and is wrong 17% of the time. Correlated errors are not evidence. Cross-family disagreement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generalises beyond this project: the specialist models lose not because the script is under-resourced but because the GENRE is. Sparse numeric tables are excluded from the training data by construction.</a:t>
            </a:r>
          </a:p>
          <a:p/>
          <a:p>
            <a:r>
              <a:t>The day-name hallucination usually gets a laugh. Let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column-strip result is worth stating: giving the model a cleaner, more focused crop made it dramatically WORSE. That is counter-intuitive and worth the audience's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NOISE: ±1 row/page, so ±2–3 over six pages. The improvement is ~6–8 sd. '0 missed on 5 of 6 pages' is the best run, not the expected value — say this aloud.</a:t>
            </a:r>
          </a:p>
          <a:p/>
          <a:p>
            <a:r>
              <a:t>Also worth saying: bigger models and more thinking made this WORSE, not better. The fix was structural, not a matter of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this. It is the honest ending: the remaining error is in the source, not the system.</a:t>
            </a:r>
          </a:p>
          <a:p/>
          <a:p>
            <a:r>
              <a:t>The 135 figure is Gemini's own count over a different comparison set; 98 is the recount on the six proxy-GT pages. Either is defensible — just be consistent about which you quote.</a:t>
            </a:r>
          </a:p>
          <a:p/>
          <a:p>
            <a:r>
              <a:t>Invite the room to try reading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or cut depending on time. If the Q&amp;A is likely to be strong, this slide seeds it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_tre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4160520"/>
            <a:ext cx="5943600" cy="11177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137160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OCR/HTR FOR UNDER-RESOURCED LANGUAGES REDUX · VIENNA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4000" b="1" i="0">
                <a:solidFill>
                  <a:srgbClr val="264653"/>
                </a:solidFill>
                <a:latin typeface="Helvetica Neue"/>
              </a:rPr>
              <a:t>Winding Workflows: Editors, Artificial Agents
and Specialist ATR Models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4A5C66"/>
                </a:solidFill>
                <a:latin typeface="Helvetica Neue"/>
              </a:rPr>
              <a:t>Two registers from Mandate Palestine, 1930s–40s. One solved, one not.</a:t>
            </a:r>
          </a:p>
          <a:p>
            <a:r>
              <a:rPr sz="1300" b="0" i="0">
                <a:solidFill>
                  <a:srgbClr val="8D99AE"/>
                </a:solidFill>
                <a:latin typeface="Helvetica Neue"/>
              </a:rPr>
              <a:t>Sinai Rusinek · Haifa University, Open University DH-Dev · Austrian Academy of Sciences, 10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THE PLACE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Al-Haditha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village near Tel Hadid — Lydda, Ramla, Jaffa. Ottoman origins, destroyed 1948.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Hadid Expedition (Alon &amp; Koch, ISF 1316/22) reconstructs it from archaeology, oral history, Ottoman and Mandate records.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102 pages · 19 columns · 3,069 rows · 58,122 cells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Handwritten Arabic under printed English headers. Shelfmark TAX 1-85.</a:t>
            </a:r>
          </a:p>
        </p:txBody>
      </p:sp>
      <p:pic>
        <p:nvPicPr>
          <p:cNvPr id="4" name="Picture 3" descr="fig04_tel_had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71980"/>
            <a:ext cx="5897880" cy="31848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4948275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Tel Hadid today, and the register that records who held which parcel.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TWO PHASES</a:t>
            </a:r>
          </a:p>
          <a:p>
            <a:pPr>
              <a:lnSpc>
                <a:spcPct val="94000"/>
              </a:lnSpc>
            </a:pPr>
            <a:r>
              <a:rPr sz="3400" b="1" i="0">
                <a:solidFill>
                  <a:srgbClr val="264653"/>
                </a:solidFill>
                <a:latin typeface="Helvetica Neue"/>
              </a:rPr>
              <a:t>The register that did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Haifa Government Hospital, 1930–1948.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33 notebooks · 2,548 images · 29,879 admissions.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Phase 1, Transkribus: 10 notebooks, ~6,000 records, 95 human training pages, CER 4.30% → 3.51%.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Phase 2, Gemini: 33 notebooks, 29,879 records,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0 training pages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structured TSV in one pass.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Not a pure upgrade — the slow phase built the knowledge the fast phase runs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6 · WHY THIS ONE IS HARD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Two registers,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Same technology. One yields, one does not.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difference is not the script — it is the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genre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: a sparse, numeric, ruled table.</a:t>
            </a:r>
          </a:p>
        </p:txBody>
      </p:sp>
      <p:pic>
        <p:nvPicPr>
          <p:cNvPr id="4" name="Picture 3" descr="fig06_two_regis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85533"/>
            <a:ext cx="5897880" cy="455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5634723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Left — Haifa: every row filled, rules crisp, page flat, serials 99–109 unbroken (names redacted). Right — Hadita: five filled rows then a scatter, ruling almost invisible, page bowing into the gutter.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6 · WHY THIS ONE IS HARD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Four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Photographed bound pages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column boundaries deviate −49px to +57px down a single page.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The rules are faint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and on a sparse page nothing else marks a row.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The left border line is missing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paper edge and binding shadow read as printed rules.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The clerk drew lines too.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Morphology cannot tell those from printed ruling.</a:t>
            </a:r>
          </a:p>
        </p:txBody>
      </p:sp>
      <p:pic>
        <p:nvPicPr>
          <p:cNvPr id="4" name="Picture 3" descr="fig06b_detail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17279"/>
            <a:ext cx="5897880" cy="1294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4002976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Missing left border · clerk-drawn lines · ditto marks · nil dashes.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6 · WHY THIS ONE IS HARD</a:t>
            </a:r>
          </a:p>
          <a:p>
            <a:pPr>
              <a:lnSpc>
                <a:spcPct val="94000"/>
              </a:lnSpc>
            </a:pPr>
            <a:r>
              <a:rPr sz="3400" b="1" i="0">
                <a:solidFill>
                  <a:srgbClr val="264653"/>
                </a:solidFill>
                <a:latin typeface="Helvetica Neue"/>
              </a:rPr>
              <a:t>Content and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32% of cells carry ink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(18,718 of 58,122).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Cells hold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1–4 glyphs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mostly Eastern Arabic numerals. No lexicon, no redundancy: every stroke is load-bearing.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Two digit systems coexist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both authentic — ٠-٩ in most columns, 0-9 in New_Serial_No and T.D.L. references. Not normalised.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Ditto marks and nil dashes carry meaning.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97 reference cells hold text with essentially zero ink.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A row is not always an entry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sub-totals, carry-forwards, tax-year breakdowns.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7 · THE CAST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Who is actually reading?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Specialist ATR models · VLMs · rule-based code · editors.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title was too short to name them all — and “agents” was already doing double duty for two of them.</a:t>
            </a:r>
          </a:p>
        </p:txBody>
      </p:sp>
      <p:pic>
        <p:nvPicPr>
          <p:cNvPr id="4" name="Picture 3" descr="fig07_the_c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571407"/>
            <a:ext cx="5897880" cy="1386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4048848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The pipeline, coloured by who does each stage rather than by what it computes.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8D99AE"/>
                </a:solidFill>
                <a:latin typeface="Helvetica Neue"/>
              </a:rPr>
              <a:t>PART TWO</a:t>
            </a:r>
          </a:p>
          <a:p>
            <a:pPr>
              <a:lnSpc>
                <a:spcPct val="100000"/>
              </a:lnSpc>
            </a:pPr>
            <a:r>
              <a:rPr sz="3600" b="1" i="0">
                <a:solidFill>
                  <a:srgbClr val="264653"/>
                </a:solidFill>
                <a:latin typeface="Helvetica Neue"/>
              </a:rPr>
              <a:t>Getting the geometry right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8 · THE LOSSY CONVENIENCE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Dewarping destroyed the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pipeline straightened the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image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 The canvas ended at last_row_center + ½ pitch.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Content below the last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detected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row was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cut, not smeared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a missed row was silently discarded.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98 of 98 pages damaged.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25 lost a whole written row; 92 had the bottom-cut geometry.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2841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2A9D8F"/>
                </a:solidFill>
                <a:latin typeface="Helvetica Neue"/>
              </a:rPr>
              <a:t>Fix: warp the coordinates, not the image.</a:t>
            </a:r>
          </a:p>
        </p:txBody>
      </p:sp>
      <p:pic>
        <p:nvPicPr>
          <p:cNvPr id="5" name="Picture 4" descr="fig08_dewarp_da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235" y="566928"/>
            <a:ext cx="588541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6053328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Page 71: 382px — 4.2 row pitches — written and discarded.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9 · COLUMNS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One miss is the whole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Detecting 19 rules one by one cannot work: faint, crossed by handwriting, false verticals from the binding, and the page bows.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Text is placed into cells by column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index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a slightly misdrawn line is cosmetic, a dropped one mislabels every cell to its right.</a:t>
            </a:r>
          </a:p>
        </p:txBody>
      </p:sp>
      <p:pic>
        <p:nvPicPr>
          <p:cNvPr id="4" name="Picture 3" descr="fig09b_one_mi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2235"/>
            <a:ext cx="5897880" cy="3984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5348020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Left: 19 rules found. Right: one rule dropped — every column index to its right shifts, and the page ends at 17 instead of 18.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9 · COLUMNS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Stop detecting nineteen lines; fit one known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printed form is constant, so the 19 relative widths are a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template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header band is print-only and carries all 18 interior rules as short clean strokes.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Fit the template to those, with two free parameters: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right edge and scale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The left edge is derived, never detected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whatever lies left of the Serial/Date rule is the Serial column.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712464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2A9D8F"/>
                </a:solidFill>
                <a:latin typeface="Helvetica Neue"/>
              </a:rPr>
              <a:t>“Stop detecting 19 lines; fit ONE known form.”</a:t>
            </a:r>
          </a:p>
        </p:txBody>
      </p:sp>
      <p:pic>
        <p:nvPicPr>
          <p:cNvPr id="5" name="Picture 4" descr="fig09a_header_b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76258"/>
            <a:ext cx="5897880" cy="1176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3943997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The header band — the cleanest column anchors on the page, because the scribe never wrote there.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10 · ROWS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Where the same move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Columns worked by ignoring the writing and fitting the printed form. The obvious next step was to do it again for rows.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It did not survive contact with the scribe.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horizontal rules are printed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1–3% darker than the paper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and dashed. The faint dashes do not binarise; what survives is handwriting.</a:t>
            </a:r>
          </a:p>
        </p:txBody>
      </p:sp>
      <p:pic>
        <p:nvPicPr>
          <p:cNvPr id="4" name="Picture 3" descr="fig10a_morph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065" y="566928"/>
            <a:ext cx="3479749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6053328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Adaptive threshold + long horizontal opening — the standard table-extraction recipe. This is all it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10 · ROWS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A median across strips does find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Cut the page into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30 vertical strips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; take each strip's darkness profile.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Take the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median across strips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 A printed rule crosses every strip and survives; a written line touches a few and is suppressed.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94436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2A9D8F"/>
                </a:solidFill>
                <a:latin typeface="Helvetica Neue"/>
              </a:rPr>
              <a:t>The signal was always there — it needed a statistic robust to ink, not a stronger filter.</a:t>
            </a:r>
          </a:p>
        </p:txBody>
      </p:sp>
      <p:pic>
        <p:nvPicPr>
          <p:cNvPr id="5" name="Picture 4" descr="fig10b_strip_med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50237"/>
            <a:ext cx="5897880" cy="1828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4270019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30 individual strips (faint) and their median. On the densest page: 33 of 33 rules, within 6px of a perfectly regular ladder.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10 · ROWS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And then the 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Building the grid on those rules gave 34 rows on every preview page — the printed form's own row count, right for the first time.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On visual review, every boundary cut straight through a line of handwriting.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Measured: the written lines sit within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1–7px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of the printed rules, on a form whose rules are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93px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apart.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2841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2A9D8F"/>
                </a:solidFill>
                <a:latin typeface="Helvetica Neue"/>
              </a:rPr>
              <a:t>The scribe writes ON the rule, not between the rules. A rule is not the edge of a row — it is the middle of one.</a:t>
            </a:r>
          </a:p>
        </p:txBody>
      </p:sp>
      <p:pic>
        <p:nvPicPr>
          <p:cNvPr id="5" name="Picture 4" descr="fig10c_rules_not_bounda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53" y="566928"/>
            <a:ext cx="4309973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6053328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Top: printed rules used as row boundaries — every line cuts through the writing. Bottom: boundaries midway between.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10 · ROWS</a:t>
            </a:r>
          </a:p>
          <a:p>
            <a:pPr>
              <a:lnSpc>
                <a:spcPct val="94000"/>
              </a:lnSpc>
            </a:pPr>
            <a:r>
              <a:rPr sz="3400" b="1" i="0">
                <a:solidFill>
                  <a:srgbClr val="264653"/>
                </a:solidFill>
                <a:latin typeface="Helvetica Neue"/>
              </a:rPr>
              <a:t>Two sources, two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grid is built on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Kraken baselines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a generic segmenter, no Arabic, no notion of a table — which finds where the writing is. Boundaries go midway between.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printed rules stay in, demoted to one job: they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measure the spacing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which they do better than handwriting can, because a printed form is regular and a scribe is not.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Where a gap is wide enough for two rows, a row is inserted: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blank rows are found by arithmetic, not by 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28416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2A9D8F"/>
                </a:solidFill>
                <a:latin typeface="Helvetica Neue"/>
              </a:rPr>
              <a:t>The printed form knows the spacing. Only the ink knows where the rows actually fall.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11 · INK-GATING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PyLaia has no “empty”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Our XML placed a TextLine in all 58,122 cells — so on page 11 PyLaia returned text in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416 of 532 blank cells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The fix is not a model: measure ink per cell, emit a TextLine only where there is some.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Cutoff at 6px.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39,404 of 58,122 lines dropped. Inventions: zero.</a:t>
            </a:r>
          </a:p>
        </p:txBody>
      </p:sp>
      <p:pic>
        <p:nvPicPr>
          <p:cNvPr id="4" name="Picture 3" descr="fig11_ink_histo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232279"/>
            <a:ext cx="5897880" cy="2064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4387977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Measured on the six proxy-GT pages with the shipped gate's own masks. Cells with text: median 270px. Blank cells: median 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6517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8D99AE"/>
                </a:solidFill>
                <a:latin typeface="Helvetica Neue"/>
              </a:rPr>
              <a:t>PART THREE</a:t>
            </a:r>
          </a:p>
          <a:p>
            <a:pPr>
              <a:lnSpc>
                <a:spcPct val="100000"/>
              </a:lnSpc>
            </a:pPr>
            <a:r>
              <a:rPr sz="3600" b="1" i="0">
                <a:solidFill>
                  <a:srgbClr val="264653"/>
                </a:solidFill>
                <a:latin typeface="Helvetica Neue"/>
              </a:rPr>
              <a:t>Who can actually read the cells?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12 · WHO CAN READ THE CELLS?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Nobody reads them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hadid02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(PyLaia fine-tuned on this hand, 6 GT pages): 45.8% perfect cells, ~1,084 RA keystrokes/page.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Gemini 3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: 56–70% perfect cells, 720 keystrokes/page.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Baseer/NAKBA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(competition winner, CER 0.079 on Palestinian manuscripts):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1.8× more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keystrokes.</a:t>
            </a:r>
          </a:p>
        </p:txBody>
      </p:sp>
      <p:pic>
        <p:nvPicPr>
          <p:cNvPr id="4" name="Picture 3" descr="fig12_agreement_fu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61705"/>
            <a:ext cx="5897880" cy="1805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4258551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What the pipeline hands the editor. Cross-family agreement auto-accepts about a third of inked cells at 0.88% substantive error.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13 · WHY THE SPECIALISTS LOSE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Genre, not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Baseer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: base model trained on 500k pairs with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zero handwriting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, and tables with &gt;25% empty cells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explicitly discarded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— our exact distribution. Fine-tuned on memoir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prose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Every Arabic Kraken model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is trained on prose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lines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. CTC needs horizontal context that a 2-glyph cell denies it.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Digits are a rounding error in every training set — so ٢/٣ and ٤/٦ are exactly the classes no model had pressure to separate.</a:t>
            </a:r>
          </a:p>
        </p:txBody>
      </p:sp>
      <p:pic>
        <p:nvPicPr>
          <p:cNvPr id="4" name="Picture 3" descr="fig13_baseer_day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28920"/>
            <a:ext cx="5897880" cy="4070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5391335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Baseer's hallucinations in blank cells: السبت · الخميس · الاربعاء — days of the week, in a tax ledger. Every cell shown holds under 20px of ink.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SLIDES 14–15 · THE COUNTING PROBLEM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The model returns a flat list; PAGE XML needs (row, column)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No guarantee the model's row N is the grid's row N.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On a sparse page it cannot tell a blank ruled row from a faint written one, so it drops rows — and everything below shifts.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Page 9: 21 of 24 rows.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Everything that gave the model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less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context failed: banded crops, column strips (Block_No 71.4% → 0.0%), cell crops.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Even feeding it perfectly correct geometry did not help.</a:t>
            </a:r>
          </a:p>
        </p:txBody>
      </p:sp>
      <p:pic>
        <p:nvPicPr>
          <p:cNvPr id="4" name="Picture 3" descr="fig14_counting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009" y="566928"/>
            <a:ext cx="3359861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6053328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Page 9: dense entries at the top, then scattered faint ones, then ruled blanks. Nothing tells the model how many rows it has passed.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15 · TWO FIXES, DIFFERENT IN KIND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Delete 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The measurement was wrong.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The scorer assumed a constant row offset, so one dropped row charged every row below it as a misread. Needleman–Wunsch alignment recovered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20–28% — with zero API calls.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Then: delete the task.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Print the row index into the margin, from geometry we already had, and ask the model to key each row to the number.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Missed rows 23 → 1–4.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~$0.011/page.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28416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2A9D8F"/>
                </a:solidFill>
                <a:latin typeface="Helvetica Neue"/>
              </a:rPr>
              <a:t>Not a better model. No counting task.</a:t>
            </a:r>
          </a:p>
        </p:txBody>
      </p:sp>
      <p:pic>
        <p:nvPicPr>
          <p:cNvPr id="5" name="Picture 4" descr="fig15_set_of_mar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743" y="566928"/>
            <a:ext cx="3860393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6053328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Set-of-marks: the indices come from the grid we already computed. The model is no longer counting anything.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SLIDE 16 · WHERE I WOULD LIKE HELP</a:t>
            </a:r>
          </a:p>
          <a:p>
            <a:pPr>
              <a:lnSpc>
                <a:spcPct val="94000"/>
              </a:lnSpc>
            </a:pPr>
            <a:r>
              <a:rPr sz="3000" b="1" i="0">
                <a:solidFill>
                  <a:srgbClr val="264653"/>
                </a:solidFill>
                <a:latin typeface="Helvetica Neue"/>
              </a:rPr>
              <a:t>٣ → 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Top substitution for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Gemini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(135),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Baseer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(67), and </a:t>
            </a:r>
            <a:r>
              <a:rPr sz="1500" b="1" i="0">
                <a:solidFill>
                  <a:srgbClr val="264653"/>
                </a:solidFill>
                <a:latin typeface="Helvetica Neue"/>
              </a:rPr>
              <a:t>Claude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 alike.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Three model families, three architectures, one scribe's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944368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D1495B"/>
                </a:solidFill>
                <a:latin typeface="Helvetica Neue"/>
              </a:rPr>
              <a:t>Not model-fixable. This is where I would like help.</a:t>
            </a:r>
          </a:p>
        </p:txBody>
      </p:sp>
      <p:pic>
        <p:nvPicPr>
          <p:cNvPr id="5" name="Picture 4" descr="fig16_three_to_tw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55431"/>
            <a:ext cx="5897879" cy="3617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0" y="5164824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8D99AE"/>
                </a:solidFill>
                <a:latin typeface="Helvetica Neue"/>
              </a:rPr>
              <a:t>The scribe's ٣ at reading size. Recomputed against the proxy GT: 98 instances across the six pages.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8D99AE"/>
                </a:solidFill>
                <a:latin typeface="Helvetica Neue"/>
              </a:rPr>
              <a:t>OPEN QUESTIONS</a:t>
            </a:r>
          </a:p>
          <a:p>
            <a:pPr>
              <a:lnSpc>
                <a:spcPct val="94000"/>
              </a:lnSpc>
            </a:pPr>
            <a:r>
              <a:rPr sz="3400" b="1" i="0">
                <a:solidFill>
                  <a:srgbClr val="264653"/>
                </a:solidFill>
                <a:latin typeface="Helvetica Neue"/>
              </a:rPr>
              <a:t>What is still unsettled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Sparse-row skipping is improved but not solved; pages 9 and 10 remain the hard cases.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Framing / through-line not yet fixed.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Yiddish vocalization (YiDraCor) case not included — no room without cutting something load-bearing.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Pending: row-strip variant of the Baseer test, to separate model deficit from crop deficit.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500" b="0" i="0">
                <a:solidFill>
                  <a:srgbClr val="8D99AE"/>
                </a:solidFill>
                <a:latin typeface="Helvetica Neue"/>
              </a:rPr>
              <a:t>— </a:t>
            </a:r>
            <a:r>
              <a:rPr sz="1500" b="0" i="0">
                <a:solidFill>
                  <a:srgbClr val="264653"/>
                </a:solidFill>
                <a:latin typeface="Helvetica Neue"/>
              </a:rPr>
              <a:t>Pending: rerun of gen2_sc_clean on the rebuilt corpus for a fair-footing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